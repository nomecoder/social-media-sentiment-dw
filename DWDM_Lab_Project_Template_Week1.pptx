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" id="{F48784BA-7B9E-06E5-4CCF-344A2382D4BF}">
          <p14:sldIdLst>
            <p14:sldId id="256"/>
          </p14:sldIdLst>
        </p14:section>
        <p14:section name="Dataset" id="{D79C840E-7269-8AC5-760E-9549C956F552}">
          <p14:sldIdLst>
            <p14:sldId id="257"/>
            <p14:sldId id="258"/>
          </p14:sldIdLst>
        </p14:section>
        <p14:section name="Warehouse" id="{75777074-7AA5-E516-5AE2-16BB8DF60707}">
          <p14:sldIdLst>
            <p14:sldId id="259"/>
            <p14:sldId id="260"/>
          </p14:sldIdLst>
        </p14:section>
        <p14:section name="OLAP" id="{667E24A1-C8BB-2EE4-BD18-DA14152A87F5}">
          <p14:sldIdLst>
            <p14:sldId id="261"/>
          </p14:sldIdLst>
        </p14:section>
        <p14:section name="Code" id="{01E6FDEA-CB28-48CA-68DF-EDB7E400CD34}">
          <p14:sldIdLst>
            <p14:sldId id="262"/>
            <p14:sldId id="263"/>
            <p14:sldId id="264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74" d="100"/>
          <a:sy n="74" d="100"/>
        </p:scale>
        <p:origin x="352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4545720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1828800"/>
            <a:ext cx="137160" cy="1463040"/>
          </a:xfrm>
          <a:prstGeom prst="rect">
            <a:avLst/>
          </a:prstGeom>
          <a:solidFill>
            <a:schemeClr val="bg1"/>
          </a:solidFill>
          <a:ln/>
        </p:spPr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09728" cy="685800"/>
          </a:xfrm>
          <a:prstGeom prst="rect">
            <a:avLst/>
          </a:prstGeom>
          <a:solidFill>
            <a:schemeClr val="accent2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635508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chemeClr val="accent6"/>
                </a:solidFill>
              </a:rPr>
              <a:t>CSI3010 · Data Mining &amp; Warehousing · Lab Project</a:t>
            </a:r>
            <a:endParaRPr lang="en-US" sz="1000" dirty="0"/>
          </a:p>
        </p:txBody>
      </p:sp>
      <p:sp>
        <p:nvSpPr>
          <p:cNvPr id="4" name="Text 2"/>
          <p:cNvSpPr>
            <a:spLocks noGrp="1"/>
          </p:cNvSpPr>
          <p:nvPr>
            <p:ph type="title" idx="102" hasCustomPrompt="1"/>
          </p:nvPr>
        </p:nvSpPr>
        <p:spPr>
          <a:xfrm>
            <a:off x="822960" y="411480"/>
            <a:ext cx="10789920" cy="77724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>
              <a:buNone/>
              <a:defRPr lang="en-US" sz="2800" b="1" dirty="0">
                <a:solidFill>
                  <a:schemeClr val="tx2"/>
                </a:solidFill>
              </a:defRPr>
            </a:lvl1pPr>
          </a:lstStyle>
          <a:p>
            <a:pPr marL="0" indent="0">
              <a:buNone/>
            </a:pPr>
            <a:endParaRPr lang="en-US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2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1828800"/>
            <a:ext cx="137160" cy="1554480"/>
          </a:xfrm>
          <a:prstGeom prst="rect">
            <a:avLst/>
          </a:prstGeom>
          <a:solidFill>
            <a:schemeClr val="bg1"/>
          </a:solidFill>
          <a:ln/>
        </p:spPr>
      </p:sp>
      <p:sp>
        <p:nvSpPr>
          <p:cNvPr id="3" name="Text 1"/>
          <p:cNvSpPr>
            <a:spLocks noGrp="1"/>
          </p:cNvSpPr>
          <p:nvPr>
            <p:ph type="title" idx="101" hasCustomPrompt="1"/>
          </p:nvPr>
        </p:nvSpPr>
        <p:spPr>
          <a:xfrm>
            <a:off x="1097280" y="1737360"/>
            <a:ext cx="9875520" cy="109728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>
              <a:buNone/>
              <a:defRPr lang="en-US" sz="3800" b="1" dirty="0">
                <a:solidFill>
                  <a:schemeClr val="bg1"/>
                </a:solidFill>
              </a:defRPr>
            </a:lvl1pPr>
          </a:lstStyle>
          <a:p>
            <a:pPr marL="0" indent="0">
              <a:buNone/>
            </a:pPr>
            <a:endParaRPr lang="en-US" sz="3800" dirty="0"/>
          </a:p>
        </p:txBody>
      </p:sp>
      <p:sp>
        <p:nvSpPr>
          <p:cNvPr id="4" name="Text 1"/>
          <p:cNvSpPr>
            <a:spLocks noGrp="1"/>
          </p:cNvSpPr>
          <p:nvPr>
            <p:ph type="body" idx="102" hasCustomPrompt="1"/>
          </p:nvPr>
        </p:nvSpPr>
        <p:spPr>
          <a:xfrm>
            <a:off x="1097280" y="2880360"/>
            <a:ext cx="9875520" cy="54864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>
              <a:buNone/>
              <a:defRPr lang="en-US" sz="1800" dirty="0">
                <a:solidFill>
                  <a:schemeClr val="bg2"/>
                </a:solidFill>
              </a:defRPr>
            </a:lvl1pPr>
          </a:lstStyle>
          <a:p>
            <a:pPr marL="0" indent="0">
              <a:buNone/>
            </a:pPr>
            <a:endParaRPr lang="en-US" sz="18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1097280" y="1737360"/>
            <a:ext cx="98755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3800" b="1" dirty="0">
                <a:solidFill>
                  <a:schemeClr val="bg1"/>
                </a:solidFill>
              </a:rPr>
              <a:t>[Lab Project Title]</a:t>
            </a:r>
            <a:endParaRPr lang="en-US" sz="3800" dirty="0"/>
          </a:p>
        </p:txBody>
      </p:sp>
      <p:sp>
        <p:nvSpPr>
          <p:cNvPr id="3" name="Text 1"/>
          <p:cNvSpPr>
            <a:spLocks noGrp="1"/>
          </p:cNvSpPr>
          <p:nvPr>
            <p:ph type="body" idx="102" hasCustomPrompt="1"/>
          </p:nvPr>
        </p:nvSpPr>
        <p:spPr>
          <a:xfrm>
            <a:off x="1097280" y="2880360"/>
            <a:ext cx="9875520" cy="54864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marL="0" indent="0">
              <a:buNone/>
            </a:pPr>
            <a:r>
              <a:rPr lang="en-US" sz="1800" dirty="0">
                <a:solidFill>
                  <a:schemeClr val="bg2"/>
                </a:solidFill>
              </a:rPr>
              <a:t>Data Warehousing &amp; Data Mining (CSI3010) — Lab Project</a:t>
            </a:r>
            <a:endParaRPr lang="en-US" sz="1800" dirty="0"/>
          </a:p>
        </p:txBody>
      </p:sp>
      <p:sp>
        <p:nvSpPr>
          <p:cNvPr id="4" name="Team details"/>
          <p:cNvSpPr txBox="1"/>
          <p:nvPr/>
        </p:nvSpPr>
        <p:spPr>
          <a:xfrm>
            <a:off x="1097280" y="4937760"/>
            <a:ext cx="9875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spcAft>
                <a:spcPts val="600"/>
              </a:spcAft>
            </a:pPr>
            <a:r>
              <a:rPr lang="en-US" sz="1400" dirty="0">
                <a:solidFill>
                  <a:schemeClr val="bg2"/>
                </a:solidFill>
              </a:rPr>
              <a:t>Team: [Name 1 – Reg. No.], [Name 2 – Reg. No.] [Name 3 – Reg. No.]</a:t>
            </a:r>
            <a:endParaRPr lang="en-US" sz="14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400" dirty="0">
                <a:solidFill>
                  <a:schemeClr val="bg2"/>
                </a:solidFill>
              </a:rPr>
              <a:t>Faculty: [Faculty name]   |   Slot: [Lab slot]   |   Date: [DD-MM-YYYY]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>
            <a:spLocks noGrp="1"/>
          </p:cNvSpPr>
          <p:nvPr>
            <p:ph type="title" idx="102" hasCustomPrompt="1"/>
          </p:nvPr>
        </p:nvSpPr>
        <p:spPr>
          <a:xfrm>
            <a:off x="822960" y="411480"/>
            <a:ext cx="107899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chemeClr val="tx2"/>
                </a:solidFill>
              </a:rPr>
              <a:t>Dataset Description</a:t>
            </a:r>
            <a:endParaRPr lang="en-US" sz="28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54480"/>
          <a:ext cx="5852160" cy="3520440"/>
        </p:xfrm>
        <a:graphic>
          <a:graphicData uri="http://schemas.openxmlformats.org/drawingml/2006/table">
            <a:tbl>
              <a:tblPr/>
              <a:tblGrid>
                <a:gridCol w="2011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404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Property</a:t>
                      </a:r>
                      <a:endParaRPr lang="en-US" sz="1300" dirty="0"/>
                    </a:p>
                  </a:txBody>
                  <a:tcPr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Details</a:t>
                      </a:r>
                      <a:endParaRPr lang="en-US" sz="1300" dirty="0"/>
                    </a:p>
                  </a:txBody>
                  <a:tcPr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000000"/>
                          </a:solidFill>
                        </a:rPr>
                        <a:t>Dataset name</a:t>
                      </a:r>
                      <a:endParaRPr lang="en-US" sz="1300" dirty="0"/>
                    </a:p>
                  </a:txBody>
                  <a:tcPr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[e.g., Superstore Sales]</a:t>
                      </a:r>
                      <a:endParaRPr lang="en-US" sz="1300" dirty="0"/>
                    </a:p>
                  </a:txBody>
                  <a:tcPr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000000"/>
                          </a:solidFill>
                        </a:rPr>
                        <a:t>Source / link</a:t>
                      </a:r>
                      <a:endParaRPr lang="en-US" sz="1300" dirty="0"/>
                    </a:p>
                  </a:txBody>
                  <a:tcPr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[Kaggle / UCI / Govt. portal URL]</a:t>
                      </a:r>
                      <a:endParaRPr lang="en-US" sz="1300" dirty="0"/>
                    </a:p>
                  </a:txBody>
                  <a:tcPr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000000"/>
                          </a:solidFill>
                        </a:rPr>
                        <a:t>Size</a:t>
                      </a:r>
                      <a:endParaRPr lang="en-US" sz="1300" dirty="0"/>
                    </a:p>
                  </a:txBody>
                  <a:tcPr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[# rows] × [# columns]</a:t>
                      </a:r>
                      <a:endParaRPr lang="en-US" sz="1300" dirty="0"/>
                    </a:p>
                  </a:txBody>
                  <a:tcPr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000000"/>
                          </a:solidFill>
                        </a:rPr>
                        <a:t>Time period</a:t>
                      </a:r>
                      <a:endParaRPr lang="en-US" sz="1300" dirty="0"/>
                    </a:p>
                  </a:txBody>
                  <a:tcPr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[e.g., Jan 2019 – Dec 2022]</a:t>
                      </a:r>
                      <a:endParaRPr lang="en-US" sz="1300" dirty="0"/>
                    </a:p>
                  </a:txBody>
                  <a:tcPr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000000"/>
                          </a:solidFill>
                        </a:rPr>
                        <a:t>Format</a:t>
                      </a:r>
                      <a:endParaRPr lang="en-US" sz="1300" dirty="0"/>
                    </a:p>
                  </a:txBody>
                  <a:tcPr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[CSV / Excel / SQL dump]</a:t>
                      </a:r>
                      <a:endParaRPr lang="en-US" sz="1300" dirty="0"/>
                    </a:p>
                  </a:txBody>
                  <a:tcPr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000000"/>
                          </a:solidFill>
                        </a:rPr>
                        <a:t>Domain</a:t>
                      </a:r>
                      <a:endParaRPr lang="en-US" sz="1300" dirty="0"/>
                    </a:p>
                  </a:txBody>
                  <a:tcPr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[Retail / Healthcare / Education …]</a:t>
                      </a:r>
                      <a:endParaRPr lang="en-US" sz="1300" dirty="0"/>
                    </a:p>
                  </a:txBody>
                  <a:tcPr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4" name="Rationale card"/>
          <p:cNvSpPr/>
          <p:nvPr/>
        </p:nvSpPr>
        <p:spPr>
          <a:xfrm>
            <a:off x="6766560" y="1554480"/>
            <a:ext cx="4846320" cy="448056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Rationale accent"/>
          <p:cNvSpPr/>
          <p:nvPr/>
        </p:nvSpPr>
        <p:spPr>
          <a:xfrm>
            <a:off x="6766560" y="1554480"/>
            <a:ext cx="4846320" cy="73152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6" name="Rationale head"/>
          <p:cNvSpPr txBox="1"/>
          <p:nvPr/>
        </p:nvSpPr>
        <p:spPr>
          <a:xfrm>
            <a:off x="6949440" y="178308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2"/>
                </a:solidFill>
              </a:rPr>
              <a:t>Why this dataset?</a:t>
            </a:r>
            <a:endParaRPr lang="en-US" sz="1600" dirty="0"/>
          </a:p>
        </p:txBody>
      </p:sp>
      <p:sp>
        <p:nvSpPr>
          <p:cNvPr id="7" name="Rationale body"/>
          <p:cNvSpPr txBox="1"/>
          <p:nvPr/>
        </p:nvSpPr>
        <p:spPr>
          <a:xfrm>
            <a:off x="6949440" y="2286000"/>
            <a:ext cx="448056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[Business problem it helps answer]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[Key questions to analyse]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[Data quality issues found: missing values, duplicates, outliers]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[Mining task planned: classification / clustering / association]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>
            <a:spLocks noGrp="1"/>
          </p:cNvSpPr>
          <p:nvPr>
            <p:ph type="title" idx="102" hasCustomPrompt="1"/>
          </p:nvPr>
        </p:nvSpPr>
        <p:spPr>
          <a:xfrm>
            <a:off x="822960" y="411480"/>
            <a:ext cx="107899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chemeClr val="tx2"/>
                </a:solidFill>
              </a:rPr>
              <a:t>Attribute Summary</a:t>
            </a:r>
            <a:endParaRPr lang="en-US" sz="28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54480"/>
          <a:ext cx="11064240" cy="3803904"/>
        </p:xfrm>
        <a:graphic>
          <a:graphicData uri="http://schemas.openxmlformats.org/drawingml/2006/table">
            <a:tbl>
              <a:tblPr/>
              <a:tblGrid>
                <a:gridCol w="25603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7548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Attribute</a:t>
                      </a:r>
                      <a:endParaRPr lang="en-US" sz="1300" dirty="0"/>
                    </a:p>
                  </a:txBody>
                  <a:tcPr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Type</a:t>
                      </a:r>
                      <a:endParaRPr lang="en-US" sz="1300" dirty="0"/>
                    </a:p>
                  </a:txBody>
                  <a:tcPr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Description</a:t>
                      </a:r>
                      <a:endParaRPr lang="en-US" sz="1300" dirty="0"/>
                    </a:p>
                  </a:txBody>
                  <a:tcPr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Role in DW</a:t>
                      </a:r>
                      <a:endParaRPr lang="en-US" sz="1300" dirty="0"/>
                    </a:p>
                  </a:txBody>
                  <a:tcPr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[order_id]</a:t>
                      </a:r>
                      <a:endParaRPr lang="en-US" sz="1300" dirty="0"/>
                    </a:p>
                  </a:txBody>
                  <a:tcPr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Integer</a:t>
                      </a:r>
                      <a:endParaRPr lang="en-US" sz="1300" dirty="0"/>
                    </a:p>
                  </a:txBody>
                  <a:tcPr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[Unique order identifier]</a:t>
                      </a:r>
                      <a:endParaRPr lang="en-US" sz="1300" dirty="0"/>
                    </a:p>
                  </a:txBody>
                  <a:tcPr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Key</a:t>
                      </a:r>
                      <a:endParaRPr lang="en-US" sz="1300" dirty="0"/>
                    </a:p>
                  </a:txBody>
                  <a:tcPr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[order_date]</a:t>
                      </a:r>
                      <a:endParaRPr lang="en-US" sz="1300" dirty="0"/>
                    </a:p>
                  </a:txBody>
                  <a:tcPr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Date</a:t>
                      </a:r>
                      <a:endParaRPr lang="en-US" sz="1300" dirty="0"/>
                    </a:p>
                  </a:txBody>
                  <a:tcPr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[Date of order]</a:t>
                      </a:r>
                      <a:endParaRPr lang="en-US" sz="1300" dirty="0"/>
                    </a:p>
                  </a:txBody>
                  <a:tcPr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Dimension</a:t>
                      </a:r>
                      <a:endParaRPr lang="en-US" sz="1300" dirty="0"/>
                    </a:p>
                  </a:txBody>
                  <a:tcPr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[customer_name]</a:t>
                      </a:r>
                      <a:endParaRPr lang="en-US" sz="1300" dirty="0"/>
                    </a:p>
                  </a:txBody>
                  <a:tcPr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String</a:t>
                      </a:r>
                      <a:endParaRPr lang="en-US" sz="1300" dirty="0"/>
                    </a:p>
                  </a:txBody>
                  <a:tcPr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[Customer who placed the order]</a:t>
                      </a:r>
                      <a:endParaRPr lang="en-US" sz="1300" dirty="0"/>
                    </a:p>
                  </a:txBody>
                  <a:tcPr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Dimension</a:t>
                      </a:r>
                      <a:endParaRPr lang="en-US" sz="1300" dirty="0"/>
                    </a:p>
                  </a:txBody>
                  <a:tcPr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[product_category]</a:t>
                      </a:r>
                      <a:endParaRPr lang="en-US" sz="1300" dirty="0"/>
                    </a:p>
                  </a:txBody>
                  <a:tcPr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String</a:t>
                      </a:r>
                      <a:endParaRPr lang="en-US" sz="1300" dirty="0"/>
                    </a:p>
                  </a:txBody>
                  <a:tcPr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[Category of product]</a:t>
                      </a:r>
                      <a:endParaRPr lang="en-US" sz="1300" dirty="0"/>
                    </a:p>
                  </a:txBody>
                  <a:tcPr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Dimension</a:t>
                      </a:r>
                      <a:endParaRPr lang="en-US" sz="1300" dirty="0"/>
                    </a:p>
                  </a:txBody>
                  <a:tcPr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[region]</a:t>
                      </a:r>
                      <a:endParaRPr lang="en-US" sz="1300" dirty="0"/>
                    </a:p>
                  </a:txBody>
                  <a:tcPr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String</a:t>
                      </a:r>
                      <a:endParaRPr lang="en-US" sz="1300" dirty="0"/>
                    </a:p>
                  </a:txBody>
                  <a:tcPr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[Sales region]</a:t>
                      </a:r>
                      <a:endParaRPr lang="en-US" sz="1300" dirty="0"/>
                    </a:p>
                  </a:txBody>
                  <a:tcPr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Dimension</a:t>
                      </a:r>
                      <a:endParaRPr lang="en-US" sz="1300" dirty="0"/>
                    </a:p>
                  </a:txBody>
                  <a:tcPr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[sales_amount]</a:t>
                      </a:r>
                      <a:endParaRPr lang="en-US" sz="1300" dirty="0"/>
                    </a:p>
                  </a:txBody>
                  <a:tcPr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Decimal</a:t>
                      </a:r>
                      <a:endParaRPr lang="en-US" sz="1300" dirty="0"/>
                    </a:p>
                  </a:txBody>
                  <a:tcPr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[Revenue per order line]</a:t>
                      </a:r>
                      <a:endParaRPr lang="en-US" sz="1300" dirty="0"/>
                    </a:p>
                  </a:txBody>
                  <a:tcPr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Measure</a:t>
                      </a:r>
                      <a:endParaRPr lang="en-US" sz="1300" dirty="0"/>
                    </a:p>
                  </a:txBody>
                  <a:tcPr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[quantity]</a:t>
                      </a:r>
                      <a:endParaRPr lang="en-US" sz="1300" dirty="0"/>
                    </a:p>
                  </a:txBody>
                  <a:tcPr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Integer</a:t>
                      </a:r>
                      <a:endParaRPr lang="en-US" sz="1300" dirty="0"/>
                    </a:p>
                  </a:txBody>
                  <a:tcPr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[Units sold]</a:t>
                      </a:r>
                      <a:endParaRPr lang="en-US" sz="1300" dirty="0"/>
                    </a:p>
                  </a:txBody>
                  <a:tcPr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Measure</a:t>
                      </a:r>
                      <a:endParaRPr lang="en-US" sz="1300" dirty="0"/>
                    </a:p>
                  </a:txBody>
                  <a:tcPr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3" name="Hint"/>
          <p:cNvSpPr txBox="1"/>
          <p:nvPr/>
        </p:nvSpPr>
        <p:spPr>
          <a:xfrm>
            <a:off x="548640" y="566928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chemeClr val="accent6"/>
                </a:solidFill>
              </a:rPr>
              <a:t>Replace the sample rows with your dataset’s attributes; mark each as Key, Dimension or Measure.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>
            <a:spLocks noGrp="1"/>
          </p:cNvSpPr>
          <p:nvPr>
            <p:ph type="title" idx="102" hasCustomPrompt="1"/>
          </p:nvPr>
        </p:nvSpPr>
        <p:spPr>
          <a:xfrm>
            <a:off x="822960" y="411480"/>
            <a:ext cx="107899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chemeClr val="tx2"/>
                </a:solidFill>
              </a:rPr>
              <a:t>Data Warehouse to be Built — Star Schema</a:t>
            </a:r>
            <a:endParaRPr lang="en-US" sz="2800" dirty="0"/>
          </a:p>
        </p:txBody>
      </p:sp>
      <p:sp>
        <p:nvSpPr>
          <p:cNvPr id="3" name="Link 1"/>
          <p:cNvSpPr/>
          <p:nvPr/>
        </p:nvSpPr>
        <p:spPr>
          <a:xfrm>
            <a:off x="2468880" y="2148840"/>
            <a:ext cx="3630168" cy="1737360"/>
          </a:xfrm>
          <a:prstGeom prst="line">
            <a:avLst/>
          </a:prstGeom>
          <a:noFill/>
          <a:ln w="19050">
            <a:solidFill>
              <a:schemeClr val="accent6"/>
            </a:solidFill>
            <a:prstDash val="solid"/>
          </a:ln>
        </p:spPr>
      </p:sp>
      <p:sp>
        <p:nvSpPr>
          <p:cNvPr id="4" name="Link 2"/>
          <p:cNvSpPr/>
          <p:nvPr/>
        </p:nvSpPr>
        <p:spPr>
          <a:xfrm flipV="1">
            <a:off x="6099048" y="2148840"/>
            <a:ext cx="3621024" cy="1737360"/>
          </a:xfrm>
          <a:prstGeom prst="line">
            <a:avLst/>
          </a:prstGeom>
          <a:noFill/>
          <a:ln w="19050">
            <a:solidFill>
              <a:schemeClr val="accent6"/>
            </a:solidFill>
            <a:prstDash val="solid"/>
          </a:ln>
        </p:spPr>
      </p:sp>
      <p:sp>
        <p:nvSpPr>
          <p:cNvPr id="5" name="Link 3"/>
          <p:cNvSpPr/>
          <p:nvPr/>
        </p:nvSpPr>
        <p:spPr>
          <a:xfrm flipV="1">
            <a:off x="2468880" y="3886200"/>
            <a:ext cx="3630168" cy="1463040"/>
          </a:xfrm>
          <a:prstGeom prst="line">
            <a:avLst/>
          </a:prstGeom>
          <a:noFill/>
          <a:ln w="19050">
            <a:solidFill>
              <a:schemeClr val="accent6"/>
            </a:solidFill>
            <a:prstDash val="solid"/>
          </a:ln>
        </p:spPr>
      </p:sp>
      <p:sp>
        <p:nvSpPr>
          <p:cNvPr id="6" name="Link 4"/>
          <p:cNvSpPr/>
          <p:nvPr/>
        </p:nvSpPr>
        <p:spPr>
          <a:xfrm>
            <a:off x="6099048" y="3886200"/>
            <a:ext cx="3621024" cy="1463040"/>
          </a:xfrm>
          <a:prstGeom prst="line">
            <a:avLst/>
          </a:prstGeom>
          <a:noFill/>
          <a:ln w="19050">
            <a:solidFill>
              <a:schemeClr val="accent6"/>
            </a:solidFill>
            <a:prstDash val="solid"/>
          </a:ln>
        </p:spPr>
      </p:sp>
      <p:sp>
        <p:nvSpPr>
          <p:cNvPr id="7" name="Fact table"/>
          <p:cNvSpPr/>
          <p:nvPr/>
        </p:nvSpPr>
        <p:spPr>
          <a:xfrm>
            <a:off x="4727448" y="3017520"/>
            <a:ext cx="2743200" cy="1737360"/>
          </a:xfrm>
          <a:prstGeom prst="roundRect">
            <a:avLst>
              <a:gd name="adj" fmla="val 4211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8" name="Fact table text"/>
          <p:cNvSpPr txBox="1"/>
          <p:nvPr/>
        </p:nvSpPr>
        <p:spPr>
          <a:xfrm>
            <a:off x="4864608" y="3017520"/>
            <a:ext cx="24688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FACT_[Sales]</a:t>
            </a:r>
            <a:endParaRPr lang="en-US" sz="1400" dirty="0"/>
          </a:p>
          <a:p>
            <a:pPr marL="0" indent="0" algn="ctr">
              <a:buNone/>
            </a:pPr>
            <a:r>
              <a:rPr lang="en-US" sz="1200" dirty="0">
                <a:solidFill>
                  <a:schemeClr val="bg1"/>
                </a:solidFill>
              </a:rPr>
              <a:t>[fact_id (PK), dim keys (FK),</a:t>
            </a:r>
            <a:endParaRPr lang="en-US" sz="1400" dirty="0"/>
          </a:p>
          <a:p>
            <a:pPr marL="0" indent="0" algn="ctr">
              <a:buNone/>
            </a:pPr>
            <a:r>
              <a:rPr lang="en-US" sz="1200" dirty="0">
                <a:solidFill>
                  <a:schemeClr val="bg1"/>
                </a:solidFill>
              </a:rPr>
              <a:t>measure 1, measure 2]</a:t>
            </a:r>
            <a:endParaRPr lang="en-US" sz="1400" dirty="0"/>
          </a:p>
        </p:txBody>
      </p:sp>
      <p:sp>
        <p:nvSpPr>
          <p:cNvPr id="9" name="Dim time"/>
          <p:cNvSpPr/>
          <p:nvPr/>
        </p:nvSpPr>
        <p:spPr>
          <a:xfrm>
            <a:off x="1097280" y="1554480"/>
            <a:ext cx="2743200" cy="1188720"/>
          </a:xfrm>
          <a:prstGeom prst="roundRect">
            <a:avLst>
              <a:gd name="adj" fmla="val 6154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0" name="Dim time text"/>
          <p:cNvSpPr txBox="1"/>
          <p:nvPr/>
        </p:nvSpPr>
        <p:spPr>
          <a:xfrm>
            <a:off x="1234440" y="1554480"/>
            <a:ext cx="24688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DIM_Time</a:t>
            </a:r>
            <a:endParaRPr lang="en-US" sz="1400" dirty="0"/>
          </a:p>
          <a:p>
            <a:pPr marL="0" indent="0" algn="ctr">
              <a:buNone/>
            </a:pPr>
            <a:r>
              <a:rPr lang="en-US" sz="1200" dirty="0">
                <a:solidFill>
                  <a:schemeClr val="bg1"/>
                </a:solidFill>
              </a:rPr>
              <a:t>[date_key, day, month, quarter, year]</a:t>
            </a:r>
            <a:endParaRPr lang="en-US" sz="1400" dirty="0"/>
          </a:p>
        </p:txBody>
      </p:sp>
      <p:sp>
        <p:nvSpPr>
          <p:cNvPr id="11" name="Dim 2"/>
          <p:cNvSpPr/>
          <p:nvPr/>
        </p:nvSpPr>
        <p:spPr>
          <a:xfrm>
            <a:off x="8348472" y="1554480"/>
            <a:ext cx="2743200" cy="1188720"/>
          </a:xfrm>
          <a:prstGeom prst="roundRect">
            <a:avLst>
              <a:gd name="adj" fmla="val 6154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2" name="Dim 2 text"/>
          <p:cNvSpPr txBox="1"/>
          <p:nvPr/>
        </p:nvSpPr>
        <p:spPr>
          <a:xfrm>
            <a:off x="8485632" y="1554480"/>
            <a:ext cx="24688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DIM_[Customer]</a:t>
            </a:r>
            <a:endParaRPr lang="en-US" sz="1400" dirty="0"/>
          </a:p>
          <a:p>
            <a:pPr marL="0" indent="0" algn="ctr">
              <a:buNone/>
            </a:pPr>
            <a:r>
              <a:rPr lang="en-US" sz="1200" dirty="0">
                <a:solidFill>
                  <a:schemeClr val="bg1"/>
                </a:solidFill>
              </a:rPr>
              <a:t>[customer_key, name, segment, city]</a:t>
            </a:r>
            <a:endParaRPr lang="en-US" sz="1400" dirty="0"/>
          </a:p>
        </p:txBody>
      </p:sp>
      <p:sp>
        <p:nvSpPr>
          <p:cNvPr id="13" name="Dim 3"/>
          <p:cNvSpPr/>
          <p:nvPr/>
        </p:nvSpPr>
        <p:spPr>
          <a:xfrm>
            <a:off x="1097280" y="4754880"/>
            <a:ext cx="2743200" cy="1188720"/>
          </a:xfrm>
          <a:prstGeom prst="roundRect">
            <a:avLst>
              <a:gd name="adj" fmla="val 6154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4" name="Dim 3 text"/>
          <p:cNvSpPr txBox="1"/>
          <p:nvPr/>
        </p:nvSpPr>
        <p:spPr>
          <a:xfrm>
            <a:off x="1234440" y="4754880"/>
            <a:ext cx="24688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DIM_[Product]</a:t>
            </a:r>
            <a:endParaRPr lang="en-US" sz="1400" dirty="0"/>
          </a:p>
          <a:p>
            <a:pPr marL="0" indent="0" algn="ctr">
              <a:buNone/>
            </a:pPr>
            <a:r>
              <a:rPr lang="en-US" sz="1200" dirty="0">
                <a:solidFill>
                  <a:schemeClr val="bg1"/>
                </a:solidFill>
              </a:rPr>
              <a:t>[product_key, name, category, brand]</a:t>
            </a:r>
            <a:endParaRPr lang="en-US" sz="1400" dirty="0"/>
          </a:p>
        </p:txBody>
      </p:sp>
      <p:sp>
        <p:nvSpPr>
          <p:cNvPr id="15" name="Dim 4"/>
          <p:cNvSpPr/>
          <p:nvPr/>
        </p:nvSpPr>
        <p:spPr>
          <a:xfrm>
            <a:off x="8348472" y="4754880"/>
            <a:ext cx="2743200" cy="1188720"/>
          </a:xfrm>
          <a:prstGeom prst="roundRect">
            <a:avLst>
              <a:gd name="adj" fmla="val 6154"/>
            </a:avLst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6" name="Dim 4 text"/>
          <p:cNvSpPr txBox="1"/>
          <p:nvPr/>
        </p:nvSpPr>
        <p:spPr>
          <a:xfrm>
            <a:off x="8485632" y="4754880"/>
            <a:ext cx="24688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DIM_[Location]</a:t>
            </a:r>
            <a:endParaRPr lang="en-US" sz="1400" dirty="0"/>
          </a:p>
          <a:p>
            <a:pPr marL="0" indent="0" algn="ctr">
              <a:buNone/>
            </a:pPr>
            <a:r>
              <a:rPr lang="en-US" sz="1200" dirty="0">
                <a:solidFill>
                  <a:schemeClr val="bg1"/>
                </a:solidFill>
              </a:rPr>
              <a:t>[location_key, city, state, region]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>
            <a:spLocks noGrp="1"/>
          </p:cNvSpPr>
          <p:nvPr>
            <p:ph type="title" idx="102" hasCustomPrompt="1"/>
          </p:nvPr>
        </p:nvSpPr>
        <p:spPr>
          <a:xfrm>
            <a:off x="822960" y="411480"/>
            <a:ext cx="107899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chemeClr val="tx2"/>
                </a:solidFill>
              </a:rPr>
              <a:t>Warehouse Design &amp; ETL</a:t>
            </a:r>
            <a:endParaRPr lang="en-US" sz="2800" dirty="0"/>
          </a:p>
        </p:txBody>
      </p:sp>
      <p:sp>
        <p:nvSpPr>
          <p:cNvPr id="3" name="Fact card"/>
          <p:cNvSpPr/>
          <p:nvPr/>
        </p:nvSpPr>
        <p:spPr>
          <a:xfrm>
            <a:off x="548640" y="1554480"/>
            <a:ext cx="3566160" cy="448056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Fact accent"/>
          <p:cNvSpPr/>
          <p:nvPr/>
        </p:nvSpPr>
        <p:spPr>
          <a:xfrm>
            <a:off x="548640" y="1554480"/>
            <a:ext cx="3566160" cy="73152"/>
          </a:xfrm>
          <a:prstGeom prst="rect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5" name="Fact head"/>
          <p:cNvSpPr txBox="1"/>
          <p:nvPr/>
        </p:nvSpPr>
        <p:spPr>
          <a:xfrm>
            <a:off x="731520" y="178308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2"/>
                </a:solidFill>
              </a:rPr>
              <a:t>Fact Table</a:t>
            </a:r>
            <a:endParaRPr lang="en-US" sz="1600" dirty="0"/>
          </a:p>
        </p:txBody>
      </p:sp>
      <p:sp>
        <p:nvSpPr>
          <p:cNvPr id="6" name="Fact body"/>
          <p:cNvSpPr txBox="1"/>
          <p:nvPr/>
        </p:nvSpPr>
        <p:spPr>
          <a:xfrm>
            <a:off x="731520" y="2286000"/>
            <a:ext cx="320040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Grain: [one row per …]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Measures: [sales, quantity, profit]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Foreign keys to each dimension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[Additive / semi-additive notes]</a:t>
            </a:r>
            <a:endParaRPr lang="en-US" sz="1300" dirty="0"/>
          </a:p>
        </p:txBody>
      </p:sp>
      <p:sp>
        <p:nvSpPr>
          <p:cNvPr id="7" name="Dims card"/>
          <p:cNvSpPr/>
          <p:nvPr/>
        </p:nvSpPr>
        <p:spPr>
          <a:xfrm>
            <a:off x="4315968" y="1554480"/>
            <a:ext cx="3566160" cy="448056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Dims accent"/>
          <p:cNvSpPr/>
          <p:nvPr/>
        </p:nvSpPr>
        <p:spPr>
          <a:xfrm>
            <a:off x="4315968" y="1554480"/>
            <a:ext cx="3566160" cy="73152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9" name="Dims head"/>
          <p:cNvSpPr txBox="1"/>
          <p:nvPr/>
        </p:nvSpPr>
        <p:spPr>
          <a:xfrm>
            <a:off x="4498848" y="178308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2"/>
                </a:solidFill>
              </a:rPr>
              <a:t>Dimensions &amp; Hierarchies</a:t>
            </a:r>
            <a:endParaRPr lang="en-US" sz="1600" dirty="0"/>
          </a:p>
        </p:txBody>
      </p:sp>
      <p:sp>
        <p:nvSpPr>
          <p:cNvPr id="10" name="Dims body"/>
          <p:cNvSpPr txBox="1"/>
          <p:nvPr/>
        </p:nvSpPr>
        <p:spPr>
          <a:xfrm>
            <a:off x="4498848" y="2286000"/>
            <a:ext cx="320040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Time: Day → Month → Quarter → Year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Location: City → State → Region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Product: Item → Category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[Other hierarchies]</a:t>
            </a:r>
            <a:endParaRPr lang="en-US" sz="1300" dirty="0"/>
          </a:p>
        </p:txBody>
      </p:sp>
      <p:sp>
        <p:nvSpPr>
          <p:cNvPr id="11" name="ETL card"/>
          <p:cNvSpPr/>
          <p:nvPr/>
        </p:nvSpPr>
        <p:spPr>
          <a:xfrm>
            <a:off x="8083296" y="1554480"/>
            <a:ext cx="3566160" cy="448056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2" name="ETL accent"/>
          <p:cNvSpPr/>
          <p:nvPr/>
        </p:nvSpPr>
        <p:spPr>
          <a:xfrm>
            <a:off x="8083296" y="1554480"/>
            <a:ext cx="3566160" cy="73152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3" name="ETL head"/>
          <p:cNvSpPr txBox="1"/>
          <p:nvPr/>
        </p:nvSpPr>
        <p:spPr>
          <a:xfrm>
            <a:off x="8266176" y="178308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2"/>
                </a:solidFill>
              </a:rPr>
              <a:t>ETL &amp; Tools</a:t>
            </a:r>
            <a:endParaRPr lang="en-US" sz="1600" dirty="0"/>
          </a:p>
        </p:txBody>
      </p:sp>
      <p:sp>
        <p:nvSpPr>
          <p:cNvPr id="14" name="ETL body"/>
          <p:cNvSpPr txBox="1"/>
          <p:nvPr/>
        </p:nvSpPr>
        <p:spPr>
          <a:xfrm>
            <a:off x="8266176" y="2286000"/>
            <a:ext cx="320040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Extract: [source files / DB]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Transform: [cleaning, derived columns, surrogate keys]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Load: [MySQL / PostgreSQL / SQL Server]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Tools: [Python, Pentaho, SSIS, Power BI]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>
            <a:spLocks noGrp="1"/>
          </p:cNvSpPr>
          <p:nvPr>
            <p:ph type="title" idx="102" hasCustomPrompt="1"/>
          </p:nvPr>
        </p:nvSpPr>
        <p:spPr>
          <a:xfrm>
            <a:off x="822960" y="411480"/>
            <a:ext cx="107899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chemeClr val="tx2"/>
                </a:solidFill>
              </a:rPr>
              <a:t>Sample OLAP Operations</a:t>
            </a:r>
            <a:endParaRPr lang="en-US" sz="2800" dirty="0"/>
          </a:p>
        </p:txBody>
      </p:sp>
      <p:sp>
        <p:nvSpPr>
          <p:cNvPr id="3" name="Roll-up card"/>
          <p:cNvSpPr/>
          <p:nvPr/>
        </p:nvSpPr>
        <p:spPr>
          <a:xfrm>
            <a:off x="548640" y="1554480"/>
            <a:ext cx="2103120" cy="448056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Roll-up header"/>
          <p:cNvSpPr/>
          <p:nvPr/>
        </p:nvSpPr>
        <p:spPr>
          <a:xfrm>
            <a:off x="548640" y="1554480"/>
            <a:ext cx="2103120" cy="54864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5" name="Roll-up title"/>
          <p:cNvSpPr txBox="1"/>
          <p:nvPr/>
        </p:nvSpPr>
        <p:spPr>
          <a:xfrm>
            <a:off x="548640" y="155448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Roll-up</a:t>
            </a:r>
            <a:endParaRPr lang="en-US" sz="1600" dirty="0"/>
          </a:p>
        </p:txBody>
      </p:sp>
      <p:sp>
        <p:nvSpPr>
          <p:cNvPr id="6" name="Roll-up desc"/>
          <p:cNvSpPr txBox="1"/>
          <p:nvPr/>
        </p:nvSpPr>
        <p:spPr>
          <a:xfrm>
            <a:off x="685800" y="2240280"/>
            <a:ext cx="1828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tx1"/>
                </a:solidFill>
              </a:rPr>
              <a:t>Aggregate to a higher level, e.g. City → Region</a:t>
            </a:r>
            <a:endParaRPr lang="en-US" sz="1200" dirty="0"/>
          </a:p>
        </p:txBody>
      </p:sp>
      <p:sp>
        <p:nvSpPr>
          <p:cNvPr id="7" name="Roll-up placeholder"/>
          <p:cNvSpPr txBox="1"/>
          <p:nvPr/>
        </p:nvSpPr>
        <p:spPr>
          <a:xfrm>
            <a:off x="685800" y="3337560"/>
            <a:ext cx="182880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chemeClr val="tx2"/>
                </a:solidFill>
              </a:rPr>
              <a:t>Sample query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chemeClr val="accent6"/>
                </a:solidFill>
              </a:rPr>
              <a:t>[SQL / MDX here]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chemeClr val="accent6"/>
                </a:solidFill>
              </a:rPr>
              <a:t> </a:t>
            </a: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chemeClr val="tx2"/>
                </a:solidFill>
              </a:rPr>
              <a:t>Output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chemeClr val="accent6"/>
                </a:solidFill>
              </a:rPr>
              <a:t>[Screenshot / result table]</a:t>
            </a:r>
            <a:endParaRPr lang="en-US" sz="1200" dirty="0"/>
          </a:p>
        </p:txBody>
      </p:sp>
      <p:sp>
        <p:nvSpPr>
          <p:cNvPr id="8" name="Drill-down card"/>
          <p:cNvSpPr/>
          <p:nvPr/>
        </p:nvSpPr>
        <p:spPr>
          <a:xfrm>
            <a:off x="2788920" y="1554480"/>
            <a:ext cx="2103120" cy="448056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Drill-down header"/>
          <p:cNvSpPr/>
          <p:nvPr/>
        </p:nvSpPr>
        <p:spPr>
          <a:xfrm>
            <a:off x="2788920" y="1554480"/>
            <a:ext cx="2103120" cy="548640"/>
          </a:xfrm>
          <a:prstGeom prst="rect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0" name="Drill-down title"/>
          <p:cNvSpPr txBox="1"/>
          <p:nvPr/>
        </p:nvSpPr>
        <p:spPr>
          <a:xfrm>
            <a:off x="2788920" y="155448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Drill-down</a:t>
            </a:r>
            <a:endParaRPr lang="en-US" sz="1600" dirty="0"/>
          </a:p>
        </p:txBody>
      </p:sp>
      <p:sp>
        <p:nvSpPr>
          <p:cNvPr id="11" name="Drill-down desc"/>
          <p:cNvSpPr txBox="1"/>
          <p:nvPr/>
        </p:nvSpPr>
        <p:spPr>
          <a:xfrm>
            <a:off x="2926080" y="2240280"/>
            <a:ext cx="1828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tx1"/>
                </a:solidFill>
              </a:rPr>
              <a:t>Move to finer detail, e.g. Year → Quarter → Month</a:t>
            </a:r>
            <a:endParaRPr lang="en-US" sz="1200" dirty="0"/>
          </a:p>
        </p:txBody>
      </p:sp>
      <p:sp>
        <p:nvSpPr>
          <p:cNvPr id="12" name="Drill-down placeholder"/>
          <p:cNvSpPr txBox="1"/>
          <p:nvPr/>
        </p:nvSpPr>
        <p:spPr>
          <a:xfrm>
            <a:off x="2926080" y="3337560"/>
            <a:ext cx="182880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chemeClr val="tx2"/>
                </a:solidFill>
              </a:rPr>
              <a:t>Sample query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chemeClr val="accent6"/>
                </a:solidFill>
              </a:rPr>
              <a:t>[SQL / MDX here]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chemeClr val="accent6"/>
                </a:solidFill>
              </a:rPr>
              <a:t> </a:t>
            </a: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chemeClr val="tx2"/>
                </a:solidFill>
              </a:rPr>
              <a:t>Output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chemeClr val="accent6"/>
                </a:solidFill>
              </a:rPr>
              <a:t>[Screenshot / result table]</a:t>
            </a:r>
            <a:endParaRPr lang="en-US" sz="1200" dirty="0"/>
          </a:p>
        </p:txBody>
      </p:sp>
      <p:sp>
        <p:nvSpPr>
          <p:cNvPr id="13" name="Slice card"/>
          <p:cNvSpPr/>
          <p:nvPr/>
        </p:nvSpPr>
        <p:spPr>
          <a:xfrm>
            <a:off x="5029200" y="1554480"/>
            <a:ext cx="2103120" cy="448056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4" name="Slice header"/>
          <p:cNvSpPr/>
          <p:nvPr/>
        </p:nvSpPr>
        <p:spPr>
          <a:xfrm>
            <a:off x="5029200" y="1554480"/>
            <a:ext cx="2103120" cy="548640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5" name="Slice title"/>
          <p:cNvSpPr txBox="1"/>
          <p:nvPr/>
        </p:nvSpPr>
        <p:spPr>
          <a:xfrm>
            <a:off x="5029200" y="155448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Slice</a:t>
            </a:r>
            <a:endParaRPr lang="en-US" sz="1600" dirty="0"/>
          </a:p>
        </p:txBody>
      </p:sp>
      <p:sp>
        <p:nvSpPr>
          <p:cNvPr id="16" name="Slice desc"/>
          <p:cNvSpPr txBox="1"/>
          <p:nvPr/>
        </p:nvSpPr>
        <p:spPr>
          <a:xfrm>
            <a:off x="5166360" y="2240280"/>
            <a:ext cx="1828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tx1"/>
                </a:solidFill>
              </a:rPr>
              <a:t>Fix one dimension, e.g. Year = [2022]</a:t>
            </a:r>
            <a:endParaRPr lang="en-US" sz="1200" dirty="0"/>
          </a:p>
        </p:txBody>
      </p:sp>
      <p:sp>
        <p:nvSpPr>
          <p:cNvPr id="17" name="Slice placeholder"/>
          <p:cNvSpPr txBox="1"/>
          <p:nvPr/>
        </p:nvSpPr>
        <p:spPr>
          <a:xfrm>
            <a:off x="5166360" y="3337560"/>
            <a:ext cx="182880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chemeClr val="tx2"/>
                </a:solidFill>
              </a:rPr>
              <a:t>Sample query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chemeClr val="accent6"/>
                </a:solidFill>
              </a:rPr>
              <a:t>[SQL / MDX here]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chemeClr val="accent6"/>
                </a:solidFill>
              </a:rPr>
              <a:t> </a:t>
            </a: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chemeClr val="tx2"/>
                </a:solidFill>
              </a:rPr>
              <a:t>Output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chemeClr val="accent6"/>
                </a:solidFill>
              </a:rPr>
              <a:t>[Screenshot / result table]</a:t>
            </a:r>
            <a:endParaRPr lang="en-US" sz="1200" dirty="0"/>
          </a:p>
        </p:txBody>
      </p:sp>
      <p:sp>
        <p:nvSpPr>
          <p:cNvPr id="18" name="Dice card"/>
          <p:cNvSpPr/>
          <p:nvPr/>
        </p:nvSpPr>
        <p:spPr>
          <a:xfrm>
            <a:off x="7269480" y="1554480"/>
            <a:ext cx="2103120" cy="448056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9" name="Dice header"/>
          <p:cNvSpPr/>
          <p:nvPr/>
        </p:nvSpPr>
        <p:spPr>
          <a:xfrm>
            <a:off x="7269480" y="1554480"/>
            <a:ext cx="2103120" cy="548640"/>
          </a:xfrm>
          <a:prstGeom prst="rect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20" name="Dice title"/>
          <p:cNvSpPr txBox="1"/>
          <p:nvPr/>
        </p:nvSpPr>
        <p:spPr>
          <a:xfrm>
            <a:off x="7269480" y="155448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Dice</a:t>
            </a:r>
            <a:endParaRPr lang="en-US" sz="1600" dirty="0"/>
          </a:p>
        </p:txBody>
      </p:sp>
      <p:sp>
        <p:nvSpPr>
          <p:cNvPr id="21" name="Dice desc"/>
          <p:cNvSpPr txBox="1"/>
          <p:nvPr/>
        </p:nvSpPr>
        <p:spPr>
          <a:xfrm>
            <a:off x="7406640" y="2240280"/>
            <a:ext cx="1828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tx1"/>
                </a:solidFill>
              </a:rPr>
              <a:t>Select a sub-cube on 2+ dimensions, e.g. Region &amp; Category</a:t>
            </a:r>
            <a:endParaRPr lang="en-US" sz="1200" dirty="0"/>
          </a:p>
        </p:txBody>
      </p:sp>
      <p:sp>
        <p:nvSpPr>
          <p:cNvPr id="22" name="Dice placeholder"/>
          <p:cNvSpPr txBox="1"/>
          <p:nvPr/>
        </p:nvSpPr>
        <p:spPr>
          <a:xfrm>
            <a:off x="7406640" y="3337560"/>
            <a:ext cx="182880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chemeClr val="tx2"/>
                </a:solidFill>
              </a:rPr>
              <a:t>Sample query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chemeClr val="accent6"/>
                </a:solidFill>
              </a:rPr>
              <a:t>[SQL / MDX here]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chemeClr val="accent6"/>
                </a:solidFill>
              </a:rPr>
              <a:t> </a:t>
            </a: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chemeClr val="tx2"/>
                </a:solidFill>
              </a:rPr>
              <a:t>Output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chemeClr val="accent6"/>
                </a:solidFill>
              </a:rPr>
              <a:t>[Screenshot / result table]</a:t>
            </a:r>
            <a:endParaRPr lang="en-US" sz="1200" dirty="0"/>
          </a:p>
        </p:txBody>
      </p:sp>
      <p:sp>
        <p:nvSpPr>
          <p:cNvPr id="23" name="Pivot card"/>
          <p:cNvSpPr/>
          <p:nvPr/>
        </p:nvSpPr>
        <p:spPr>
          <a:xfrm>
            <a:off x="9509760" y="1554480"/>
            <a:ext cx="2103120" cy="448056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4" name="Pivot header"/>
          <p:cNvSpPr/>
          <p:nvPr/>
        </p:nvSpPr>
        <p:spPr>
          <a:xfrm>
            <a:off x="9509760" y="1554480"/>
            <a:ext cx="2103120" cy="548640"/>
          </a:xfrm>
          <a:prstGeom prst="rect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25" name="Pivot title"/>
          <p:cNvSpPr txBox="1"/>
          <p:nvPr/>
        </p:nvSpPr>
        <p:spPr>
          <a:xfrm>
            <a:off x="9509760" y="155448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Pivot</a:t>
            </a:r>
            <a:endParaRPr lang="en-US" sz="1600" dirty="0"/>
          </a:p>
        </p:txBody>
      </p:sp>
      <p:sp>
        <p:nvSpPr>
          <p:cNvPr id="26" name="Pivot desc"/>
          <p:cNvSpPr txBox="1"/>
          <p:nvPr/>
        </p:nvSpPr>
        <p:spPr>
          <a:xfrm>
            <a:off x="9646920" y="2240280"/>
            <a:ext cx="1828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tx1"/>
                </a:solidFill>
              </a:rPr>
              <a:t>Rotate axes, e.g. swap Region and Product on the report</a:t>
            </a:r>
            <a:endParaRPr lang="en-US" sz="1200" dirty="0"/>
          </a:p>
        </p:txBody>
      </p:sp>
      <p:sp>
        <p:nvSpPr>
          <p:cNvPr id="27" name="Pivot placeholder"/>
          <p:cNvSpPr txBox="1"/>
          <p:nvPr/>
        </p:nvSpPr>
        <p:spPr>
          <a:xfrm>
            <a:off x="9646920" y="3337560"/>
            <a:ext cx="182880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chemeClr val="tx2"/>
                </a:solidFill>
              </a:rPr>
              <a:t>Sample query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chemeClr val="accent6"/>
                </a:solidFill>
              </a:rPr>
              <a:t>[SQL / MDX here]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chemeClr val="accent6"/>
                </a:solidFill>
              </a:rPr>
              <a:t> </a:t>
            </a: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chemeClr val="tx2"/>
                </a:solidFill>
              </a:rPr>
              <a:t>Output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chemeClr val="accent6"/>
                </a:solidFill>
              </a:rPr>
              <a:t>[Screenshot / result table]</a:t>
            </a:r>
            <a:endParaRPr lang="en-US" sz="1200" dirty="0"/>
          </a:p>
        </p:txBody>
      </p:sp>
      <p:sp>
        <p:nvSpPr>
          <p:cNvPr id="28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>
            <a:spLocks noGrp="1"/>
          </p:cNvSpPr>
          <p:nvPr>
            <p:ph type="title" idx="102" hasCustomPrompt="1"/>
          </p:nvPr>
        </p:nvSpPr>
        <p:spPr>
          <a:xfrm>
            <a:off x="822960" y="411480"/>
            <a:ext cx="107899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chemeClr val="tx2"/>
                </a:solidFill>
              </a:rPr>
              <a:t>Code: Creating the Warehouse (SQL)</a:t>
            </a:r>
            <a:endParaRPr lang="en-US" sz="2800" dirty="0"/>
          </a:p>
        </p:txBody>
      </p:sp>
      <p:sp>
        <p:nvSpPr>
          <p:cNvPr id="3" name="DDL code box"/>
          <p:cNvSpPr/>
          <p:nvPr/>
        </p:nvSpPr>
        <p:spPr>
          <a:xfrm>
            <a:off x="548640" y="1508760"/>
            <a:ext cx="11064240" cy="4572000"/>
          </a:xfrm>
          <a:prstGeom prst="rect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4" name="DDL code"/>
          <p:cNvSpPr txBox="1"/>
          <p:nvPr/>
        </p:nvSpPr>
        <p:spPr>
          <a:xfrm>
            <a:off x="731520" y="1645920"/>
            <a:ext cx="10698480" cy="4297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CREATE TABLE dim_time (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time_key INT PRIMARY KEY,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full_date DATE, day INT, month INT, quarter INT, year INT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CREATE TABLE dim_product (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product_key INT PRIMARY KEY,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product_name VARCHAR(100), category VARCHAR(50)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dim_customer, dim_location: same pattern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CREATE TABLE fact_sales (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sales_key INT PRIMARY KEY,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time_key INT REFERENCES dim_time(time_key),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product_key INT REFERENCES dim_product(product_key),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customer_key INT REFERENCES dim_customer(customer_key),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location_key INT REFERENCES dim_location(location_key),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sales_amount DECIMAL(12,2),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quantity INT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>
            <a:spLocks noGrp="1"/>
          </p:cNvSpPr>
          <p:nvPr>
            <p:ph type="title" idx="102" hasCustomPrompt="1"/>
          </p:nvPr>
        </p:nvSpPr>
        <p:spPr>
          <a:xfrm>
            <a:off x="822960" y="411480"/>
            <a:ext cx="107899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chemeClr val="tx2"/>
                </a:solidFill>
              </a:rPr>
              <a:t>Code: ETL with Python (pandas)</a:t>
            </a:r>
            <a:endParaRPr lang="en-US" sz="2800" dirty="0"/>
          </a:p>
        </p:txBody>
      </p:sp>
      <p:sp>
        <p:nvSpPr>
          <p:cNvPr id="3" name="ETL code box"/>
          <p:cNvSpPr/>
          <p:nvPr/>
        </p:nvSpPr>
        <p:spPr>
          <a:xfrm>
            <a:off x="548640" y="1508760"/>
            <a:ext cx="11064240" cy="4572000"/>
          </a:xfrm>
          <a:prstGeom prst="rect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4" name="ETL code"/>
          <p:cNvSpPr txBox="1"/>
          <p:nvPr/>
        </p:nvSpPr>
        <p:spPr>
          <a:xfrm>
            <a:off x="731520" y="1645920"/>
            <a:ext cx="10698480" cy="4297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pandas as pd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sqlalchemy import create_engine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Extract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 = pd.read_csv("[dataset].csv")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Transform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 = df.drop_duplicates().dropna(subset=["[order_id]"])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df["order_date"] = pd.to_datetime(df["order_date"])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dim_time = pd.DataFrame({"full_date": df["order_date"].unique()})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dim_time["time_key"] = dim_time.index + 1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dim_time["month"] = dim_time["full_date"].dt.month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dim_time["quarter"] = dim_time["full_date"].dt.quarter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dim_time["year"] = dim_time["full_date"].dt.year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Load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engine = create_engine("mysql+pymysql://user:pwd@localhost/[dw_name]")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dim_time.to_sql("dim_time", engine, if_exists="append", index=False)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repeat for other dimensions, then build fact_sales using the surrogate keys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>
            <a:spLocks noGrp="1"/>
          </p:cNvSpPr>
          <p:nvPr>
            <p:ph type="title" idx="102" hasCustomPrompt="1"/>
          </p:nvPr>
        </p:nvSpPr>
        <p:spPr>
          <a:xfrm>
            <a:off x="822960" y="411480"/>
            <a:ext cx="107899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chemeClr val="tx2"/>
                </a:solidFill>
              </a:rPr>
              <a:t>Code: Sample OLAP Queries</a:t>
            </a:r>
            <a:endParaRPr lang="en-US" sz="2800" dirty="0"/>
          </a:p>
        </p:txBody>
      </p:sp>
      <p:sp>
        <p:nvSpPr>
          <p:cNvPr id="3" name="OLAP code left box"/>
          <p:cNvSpPr/>
          <p:nvPr/>
        </p:nvSpPr>
        <p:spPr>
          <a:xfrm>
            <a:off x="548640" y="1508760"/>
            <a:ext cx="5440680" cy="4572000"/>
          </a:xfrm>
          <a:prstGeom prst="rect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4" name="OLAP code left"/>
          <p:cNvSpPr txBox="1"/>
          <p:nvPr/>
        </p:nvSpPr>
        <p:spPr>
          <a:xfrm>
            <a:off x="731520" y="1645920"/>
            <a:ext cx="5074920" cy="4297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Roll-up: City -&gt; Region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l.region, SUM(f.sales_amount) AS total_sales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fact_sales f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JOIN dim_location l ON f.location_key = l.location_key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GROUP BY l.region;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Drill-down: Year -&gt; Quarter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t.year, t.quarter, SUM(f.sales_amount) AS total_sales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fact_sales f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JOIN dim_time t ON f.time_key = t.time_key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GROUP BY t.year, t.quarter;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Slice: Year = 2022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p.category, SUM(f.sales_amount) AS total_sales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fact_sales f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JOIN dim_time t ON f.time_key = t.time_key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JOIN dim_product p ON f.product_key = p.product_key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WHERE t.year = 2022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GROUP BY p.category;</a:t>
            </a:r>
            <a:endParaRPr lang="en-US" sz="1000" dirty="0"/>
          </a:p>
        </p:txBody>
      </p:sp>
      <p:sp>
        <p:nvSpPr>
          <p:cNvPr id="5" name="OLAP code right box"/>
          <p:cNvSpPr/>
          <p:nvPr/>
        </p:nvSpPr>
        <p:spPr>
          <a:xfrm>
            <a:off x="6172200" y="1508760"/>
            <a:ext cx="5440680" cy="4572000"/>
          </a:xfrm>
          <a:prstGeom prst="rect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6" name="OLAP code right"/>
          <p:cNvSpPr txBox="1"/>
          <p:nvPr/>
        </p:nvSpPr>
        <p:spPr>
          <a:xfrm>
            <a:off x="6355080" y="1645920"/>
            <a:ext cx="5074920" cy="4297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Dice: two or more dimensions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l.region, p.category, SUM(f.sales_amount) AS total_sales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fact_sales f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JOIN dim_location l ON f.location_key = l.location_key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JOIN dim_product p ON f.product_key = p.product_key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WHERE l.region IN ('South', 'West')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AND p.category IN ('Furniture', 'Technology')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GROUP BY l.region, p.category;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Pivot: regions as columns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p.category,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SUM(CASE WHEN l.region = 'South'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THEN f.sales_amount END) AS south,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SUM(CASE WHEN l.region = 'West'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THEN f.sales_amount END) AS west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fact_sales f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JOIN dim_location l ON f.location_key = l.location_key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JOIN dim_product p ON f.product_key = p.product_key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GROUP BY p.category;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9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WDM Lab BW">
  <a:themeElements>
    <a:clrScheme name="DWDM Lab BW">
      <a:dk1>
        <a:srgbClr val="000000"/>
      </a:dk1>
      <a:lt1>
        <a:srgbClr val="FFFFFF"/>
      </a:lt1>
      <a:dk2>
        <a:srgbClr val="111111"/>
      </a:dk2>
      <a:lt2>
        <a:srgbClr val="F2F2F2"/>
      </a:lt2>
      <a:accent1>
        <a:srgbClr val="1A1A1A"/>
      </a:accent1>
      <a:accent2>
        <a:srgbClr val="4D4D4D"/>
      </a:accent2>
      <a:accent3>
        <a:srgbClr val="333333"/>
      </a:accent3>
      <a:accent4>
        <a:srgbClr val="666666"/>
      </a:accent4>
      <a:accent5>
        <a:srgbClr val="737373"/>
      </a:accent5>
      <a:accent6>
        <a:srgbClr val="595959"/>
      </a:accent6>
      <a:hlink>
        <a:srgbClr val="000000"/>
      </a:hlink>
      <a:folHlink>
        <a:srgbClr val="595959"/>
      </a:folHlink>
    </a:clrScheme>
    <a:fontScheme name="DWDM Lab BW">
      <a:majorFont>
        <a:latin typeface="Georg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1413</Words>
  <Application>Microsoft Office PowerPoint</Application>
  <PresentationFormat>Widescreen</PresentationFormat>
  <Paragraphs>218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</vt:lpstr>
      <vt:lpstr>Calibri</vt:lpstr>
      <vt:lpstr>Consolas</vt:lpstr>
      <vt:lpstr>DWDM Lab BW</vt:lpstr>
      <vt:lpstr>[Lab Project Title]</vt:lpstr>
      <vt:lpstr>Dataset Description</vt:lpstr>
      <vt:lpstr>Attribute Summary</vt:lpstr>
      <vt:lpstr>Data Warehouse to be Built — Star Schema</vt:lpstr>
      <vt:lpstr>Warehouse Design &amp; ETL</vt:lpstr>
      <vt:lpstr>Sample OLAP Operations</vt:lpstr>
      <vt:lpstr>Code: Creating the Warehouse (SQL)</vt:lpstr>
      <vt:lpstr>Code: ETL with Python (pandas)</vt:lpstr>
      <vt:lpstr>Code: Sample OLAP Queries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DWDM Lab Project Template</dc:title>
  <dc:subject>PptxGenJS Presentation</dc:subject>
  <dc:creator>PptxGenJS</dc:creator>
  <cp:lastModifiedBy>adrija bhattacharya</cp:lastModifiedBy>
  <cp:revision>2</cp:revision>
  <dcterms:created xsi:type="dcterms:W3CDTF">2026-10-05T17:32:32Z</dcterms:created>
  <dcterms:modified xsi:type="dcterms:W3CDTF">2026-10-05T17:33:34Z</dcterms:modified>
</cp:coreProperties>
</file>